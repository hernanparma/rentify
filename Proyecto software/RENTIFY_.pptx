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Nuni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678CE7C-FCB0-46F6-869E-EB29BBB0BA7E}">
  <a:tblStyle styleId="{B678CE7C-FCB0-46F6-869E-EB29BBB0BA7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Nunito-bold.fntdata"/><Relationship Id="rId27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40461ed30_0_3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40461ed30_0_3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54a5c73e78_2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54a5c73e78_2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54a5c73e78_2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54a5c73e78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40461ed30_0_3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540461ed30_0_3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40461ed30_0_3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540461ed30_0_3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40461ed30_0_3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540461ed30_0_3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40461ed30_0_3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540461ed30_0_3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40461ed30_0_3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540461ed30_0_3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540461ed30_0_3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540461ed30_0_3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54a5c73e78_2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54a5c73e78_2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54a5c73e78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54a5c73e7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54a5c73e78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54a5c73e78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54a5c73e78_2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54a5c73e78_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54a5c73e78_2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54a5c73e78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4a5c73e78_2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54a5c73e78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54a5c73e78_2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54a5c73e78_2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54a5c73e78_2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54a5c73e78_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54a5c73e78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54a5c73e78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54a5c73e78_2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54a5c73e78_2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54a5c73e78_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54a5c73e78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2330400"/>
            <a:ext cx="75057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7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Relationship Id="rId4" Type="http://schemas.openxmlformats.org/officeDocument/2006/relationships/image" Target="../media/image10.jpg"/><Relationship Id="rId5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Relationship Id="rId4" Type="http://schemas.openxmlformats.org/officeDocument/2006/relationships/image" Target="../media/image24.jpg"/><Relationship Id="rId9" Type="http://schemas.openxmlformats.org/officeDocument/2006/relationships/image" Target="../media/image8.jpg"/><Relationship Id="rId5" Type="http://schemas.openxmlformats.org/officeDocument/2006/relationships/image" Target="../media/image28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Relationship Id="rId8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0" y="1567050"/>
            <a:ext cx="9144000" cy="10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62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RENTIFY </a:t>
            </a:r>
            <a:endParaRPr sz="362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62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Revolucionando la forma de alquilar autos</a:t>
            </a:r>
            <a:endParaRPr sz="362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0" y="2993350"/>
            <a:ext cx="9144000" cy="150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s-419" sz="2284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Grupo: 5DIGOS</a:t>
            </a:r>
            <a:endParaRPr b="1" sz="2284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s-419" sz="2184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Diaz, Rojas, Caruso, Mendes, Said, Cejas, Falcon, Estrella, Cabeda, Parma, Mancini, Gutierrez</a:t>
            </a:r>
            <a:br>
              <a:rPr lang="es-419" sz="94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</a:br>
            <a:endParaRPr sz="157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263225" y="468175"/>
            <a:ext cx="8500500" cy="40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>
                <a:solidFill>
                  <a:srgbClr val="000000"/>
                </a:solidFill>
              </a:rPr>
              <a:t>Es una plataforma moderna y simple para reservar autos desde el celular en pocos pasos.</a:t>
            </a:r>
            <a:endParaRPr sz="32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>
                <a:solidFill>
                  <a:srgbClr val="000000"/>
                </a:solidFill>
              </a:rPr>
              <a:t>Beneficios claves: </a:t>
            </a:r>
            <a:endParaRPr sz="3200">
              <a:solidFill>
                <a:srgbClr val="000000"/>
              </a:solidFill>
            </a:endParaRPr>
          </a:p>
          <a:p>
            <a:pPr indent="-43180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●"/>
            </a:pPr>
            <a:r>
              <a:rPr lang="es-419" sz="3200">
                <a:solidFill>
                  <a:srgbClr val="000000"/>
                </a:solidFill>
              </a:rPr>
              <a:t>Rápida e interactiva</a:t>
            </a:r>
            <a:endParaRPr sz="3200">
              <a:solidFill>
                <a:srgbClr val="000000"/>
              </a:solidFill>
            </a:endParaRPr>
          </a:p>
          <a:p>
            <a:pPr indent="-43180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●"/>
            </a:pPr>
            <a:r>
              <a:rPr lang="es-419" sz="3200">
                <a:solidFill>
                  <a:srgbClr val="000000"/>
                </a:solidFill>
              </a:rPr>
              <a:t>Segura</a:t>
            </a:r>
            <a:endParaRPr sz="3200">
              <a:solidFill>
                <a:srgbClr val="000000"/>
              </a:solidFill>
            </a:endParaRPr>
          </a:p>
          <a:p>
            <a:pPr indent="-43180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●"/>
            </a:pPr>
            <a:r>
              <a:rPr lang="es-419" sz="3200">
                <a:solidFill>
                  <a:srgbClr val="000000"/>
                </a:solidFill>
              </a:rPr>
              <a:t>Sin trámites innecesarios.</a:t>
            </a:r>
            <a:endParaRPr sz="3200">
              <a:solidFill>
                <a:srgbClr val="000000"/>
              </a:solidFill>
            </a:endParaRPr>
          </a:p>
        </p:txBody>
      </p:sp>
      <p:pic>
        <p:nvPicPr>
          <p:cNvPr id="135" name="Google Shape;135;p14" title="seguridad.jpg"/>
          <p:cNvPicPr preferRelativeResize="0"/>
          <p:nvPr/>
        </p:nvPicPr>
        <p:blipFill rotWithShape="1">
          <a:blip r:embed="rId3">
            <a:alphaModFix/>
          </a:blip>
          <a:srcRect b="11388" l="20574" r="19980" t="12491"/>
          <a:stretch/>
        </p:blipFill>
        <p:spPr>
          <a:xfrm>
            <a:off x="5559525" y="2078912"/>
            <a:ext cx="1155824" cy="98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4" title="rapidez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7896" y="1948413"/>
            <a:ext cx="1155825" cy="112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7675" y="3177675"/>
            <a:ext cx="1155825" cy="115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/>
          <p:nvPr/>
        </p:nvSpPr>
        <p:spPr>
          <a:xfrm>
            <a:off x="190200" y="585100"/>
            <a:ext cx="8734200" cy="42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300">
                <a:latin typeface="Nunito"/>
                <a:ea typeface="Nunito"/>
                <a:cs typeface="Nunito"/>
                <a:sym typeface="Nunito"/>
              </a:rPr>
              <a:t>Arquitectura de Microservicios</a:t>
            </a:r>
            <a:endParaRPr b="1" sz="33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1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100">
                <a:latin typeface="Nunito"/>
                <a:ea typeface="Nunito"/>
                <a:cs typeface="Nunito"/>
                <a:sym typeface="Nunito"/>
              </a:rPr>
              <a:t>En la plataforma cada funcionalidad es un servicio independiente.</a:t>
            </a:r>
            <a:endParaRPr sz="31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Con esto ganamos en: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914400" rtl="0" algn="l">
              <a:spcBef>
                <a:spcPts val="0"/>
              </a:spcBef>
              <a:spcAft>
                <a:spcPts val="0"/>
              </a:spcAft>
              <a:buSzPts val="3200"/>
              <a:buFont typeface="Nunito"/>
              <a:buChar char="➔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Escalabilidad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914400" rtl="0" algn="l">
              <a:spcBef>
                <a:spcPts val="0"/>
              </a:spcBef>
              <a:spcAft>
                <a:spcPts val="0"/>
              </a:spcAft>
              <a:buSzPts val="3200"/>
              <a:buFont typeface="Nunito"/>
              <a:buChar char="➔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Fácil mantenimiento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914400" rtl="0" algn="l">
              <a:spcBef>
                <a:spcPts val="0"/>
              </a:spcBef>
              <a:spcAft>
                <a:spcPts val="0"/>
              </a:spcAft>
              <a:buSzPts val="3200"/>
              <a:buFont typeface="Nunito"/>
              <a:buChar char="➔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Un fallo no afecta a todo el sistema</a:t>
            </a:r>
            <a:br>
              <a:rPr lang="es-419" sz="3200">
                <a:latin typeface="Nunito"/>
                <a:ea typeface="Nunito"/>
                <a:cs typeface="Nunito"/>
                <a:sym typeface="Nunito"/>
              </a:rPr>
            </a:b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15" title="microservici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8275" y="511950"/>
            <a:ext cx="944674" cy="944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6" title="arquitectura.jpg"/>
          <p:cNvPicPr preferRelativeResize="0"/>
          <p:nvPr/>
        </p:nvPicPr>
        <p:blipFill rotWithShape="1">
          <a:blip r:embed="rId3">
            <a:alphaModFix/>
          </a:blip>
          <a:srcRect b="20389" l="29866" r="34337" t="26277"/>
          <a:stretch/>
        </p:blipFill>
        <p:spPr>
          <a:xfrm>
            <a:off x="647550" y="981288"/>
            <a:ext cx="4626676" cy="289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4923100" y="765425"/>
            <a:ext cx="3833100" cy="33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200">
                <a:latin typeface="Nunito"/>
                <a:ea typeface="Nunito"/>
                <a:cs typeface="Nunito"/>
                <a:sym typeface="Nunito"/>
              </a:rPr>
              <a:t>Microservicios</a:t>
            </a:r>
            <a:endParaRPr b="1"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457200" rtl="0" algn="ctr">
              <a:spcBef>
                <a:spcPts val="0"/>
              </a:spcBef>
              <a:spcAft>
                <a:spcPts val="0"/>
              </a:spcAft>
              <a:buSzPts val="3200"/>
              <a:buFont typeface="Nunito"/>
              <a:buChar char="➔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Sucursales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457200" rtl="0" algn="ctr">
              <a:spcBef>
                <a:spcPts val="0"/>
              </a:spcBef>
              <a:spcAft>
                <a:spcPts val="0"/>
              </a:spcAft>
              <a:buSzPts val="3200"/>
              <a:buFont typeface="Nunito"/>
              <a:buChar char="➔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Usuarios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457200" rtl="0" algn="ctr">
              <a:spcBef>
                <a:spcPts val="0"/>
              </a:spcBef>
              <a:spcAft>
                <a:spcPts val="0"/>
              </a:spcAft>
              <a:buSzPts val="3200"/>
              <a:buFont typeface="Nunito"/>
              <a:buChar char="➔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Vehículos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457200" rtl="0" algn="ctr">
              <a:spcBef>
                <a:spcPts val="0"/>
              </a:spcBef>
              <a:spcAft>
                <a:spcPts val="0"/>
              </a:spcAft>
              <a:buSzPts val="3200"/>
              <a:buFont typeface="Nunito"/>
              <a:buChar char="➔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Pagos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457200" rtl="0" algn="ctr">
              <a:spcBef>
                <a:spcPts val="0"/>
              </a:spcBef>
              <a:spcAft>
                <a:spcPts val="0"/>
              </a:spcAft>
              <a:buSzPts val="3200"/>
              <a:buFont typeface="Nunito"/>
              <a:buChar char="➔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Reservas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/>
          <p:nvPr/>
        </p:nvSpPr>
        <p:spPr>
          <a:xfrm>
            <a:off x="182700" y="1180475"/>
            <a:ext cx="874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274050" y="955625"/>
            <a:ext cx="8558400" cy="33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200">
                <a:latin typeface="Nunito"/>
                <a:ea typeface="Nunito"/>
                <a:cs typeface="Nunito"/>
                <a:sym typeface="Nunito"/>
              </a:rPr>
              <a:t>Pasos:</a:t>
            </a:r>
            <a:endParaRPr b="1"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457200" rtl="0" algn="ctr">
              <a:spcBef>
                <a:spcPts val="0"/>
              </a:spcBef>
              <a:spcAft>
                <a:spcPts val="0"/>
              </a:spcAft>
              <a:buSzPts val="3200"/>
              <a:buFont typeface="Nunito"/>
              <a:buChar char="➔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El usuario inicia sesión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457200" rtl="0" algn="ctr">
              <a:spcBef>
                <a:spcPts val="0"/>
              </a:spcBef>
              <a:spcAft>
                <a:spcPts val="0"/>
              </a:spcAft>
              <a:buSzPts val="3200"/>
              <a:buFont typeface="Nunito"/>
              <a:buChar char="➔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Observa las sucursales por zonas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457200" rtl="0" algn="ctr">
              <a:spcBef>
                <a:spcPts val="0"/>
              </a:spcBef>
              <a:spcAft>
                <a:spcPts val="0"/>
              </a:spcAft>
              <a:buSzPts val="3200"/>
              <a:buFont typeface="Nunito"/>
              <a:buChar char="➔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Selecciona un auto disponible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457200" rtl="0" algn="ctr">
              <a:spcBef>
                <a:spcPts val="0"/>
              </a:spcBef>
              <a:spcAft>
                <a:spcPts val="0"/>
              </a:spcAft>
              <a:buSzPts val="3200"/>
              <a:buFont typeface="Nunito"/>
              <a:buChar char="➔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Reserva y paga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457200" rtl="0" algn="ctr">
              <a:spcBef>
                <a:spcPts val="0"/>
              </a:spcBef>
              <a:spcAft>
                <a:spcPts val="0"/>
              </a:spcAft>
              <a:buSzPts val="3200"/>
              <a:buFont typeface="Nunito"/>
              <a:buChar char="➔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Retira y maneja 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6" name="Google Shape;156;p17" title="paso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4825" y="454800"/>
            <a:ext cx="2251776" cy="1125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/>
        </p:nvSpPr>
        <p:spPr>
          <a:xfrm>
            <a:off x="190200" y="585100"/>
            <a:ext cx="8734200" cy="42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300">
                <a:latin typeface="Nunito"/>
                <a:ea typeface="Nunito"/>
                <a:cs typeface="Nunito"/>
                <a:sym typeface="Nunito"/>
              </a:rPr>
              <a:t>Inicio de sesión</a:t>
            </a:r>
            <a:endParaRPr b="1" sz="33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1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100">
                <a:latin typeface="Nunito"/>
                <a:ea typeface="Nunito"/>
                <a:cs typeface="Nunito"/>
                <a:sym typeface="Nunito"/>
              </a:rPr>
              <a:t>El usuario accede a la plataforma ingresando sus credenciales de usuario y contraseña.</a:t>
            </a:r>
            <a:endParaRPr sz="31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100">
                <a:latin typeface="Nunito"/>
                <a:ea typeface="Nunito"/>
                <a:cs typeface="Nunito"/>
                <a:sym typeface="Nunito"/>
              </a:rPr>
              <a:t>Esto le permite:</a:t>
            </a:r>
            <a:endParaRPr sz="3100">
              <a:latin typeface="Nunito"/>
              <a:ea typeface="Nunito"/>
              <a:cs typeface="Nunito"/>
              <a:sym typeface="Nunito"/>
            </a:endParaRPr>
          </a:p>
          <a:p>
            <a:pPr indent="-425450" lvl="0" marL="914400" rtl="0" algn="l">
              <a:spcBef>
                <a:spcPts val="0"/>
              </a:spcBef>
              <a:spcAft>
                <a:spcPts val="0"/>
              </a:spcAft>
              <a:buSzPts val="3100"/>
              <a:buFont typeface="Nunito"/>
              <a:buChar char="➔"/>
            </a:pPr>
            <a:r>
              <a:rPr lang="es-419" sz="3100">
                <a:latin typeface="Nunito"/>
                <a:ea typeface="Nunito"/>
                <a:cs typeface="Nunito"/>
                <a:sym typeface="Nunito"/>
              </a:rPr>
              <a:t>Gestionar sus reservas</a:t>
            </a:r>
            <a:endParaRPr sz="3100">
              <a:latin typeface="Nunito"/>
              <a:ea typeface="Nunito"/>
              <a:cs typeface="Nunito"/>
              <a:sym typeface="Nunito"/>
            </a:endParaRPr>
          </a:p>
          <a:p>
            <a:pPr indent="-425450" lvl="0" marL="914400" rtl="0" algn="l">
              <a:spcBef>
                <a:spcPts val="0"/>
              </a:spcBef>
              <a:spcAft>
                <a:spcPts val="0"/>
              </a:spcAft>
              <a:buSzPts val="3100"/>
              <a:buFont typeface="Nunito"/>
              <a:buChar char="➔"/>
            </a:pPr>
            <a:r>
              <a:rPr lang="es-419" sz="3100">
                <a:latin typeface="Nunito"/>
                <a:ea typeface="Nunito"/>
                <a:cs typeface="Nunito"/>
                <a:sym typeface="Nunito"/>
              </a:rPr>
              <a:t>Ver sus datos personales </a:t>
            </a:r>
            <a:endParaRPr sz="31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914400" rtl="0" algn="l">
              <a:spcBef>
                <a:spcPts val="0"/>
              </a:spcBef>
              <a:spcAft>
                <a:spcPts val="0"/>
              </a:spcAft>
              <a:buSzPts val="3200"/>
              <a:buFont typeface="Nunito"/>
              <a:buChar char="➔"/>
            </a:pPr>
            <a:r>
              <a:rPr lang="es-419" sz="3100">
                <a:latin typeface="Nunito"/>
                <a:ea typeface="Nunito"/>
                <a:cs typeface="Nunito"/>
                <a:sym typeface="Nunito"/>
              </a:rPr>
              <a:t>Operar de forma segura</a:t>
            </a:r>
            <a:br>
              <a:rPr lang="es-419" sz="3200">
                <a:latin typeface="Nunito"/>
                <a:ea typeface="Nunito"/>
                <a:cs typeface="Nunito"/>
                <a:sym typeface="Nunito"/>
              </a:rPr>
            </a:b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18"/>
          <p:cNvPicPr preferRelativeResize="0"/>
          <p:nvPr/>
        </p:nvPicPr>
        <p:blipFill rotWithShape="1">
          <a:blip r:embed="rId3">
            <a:alphaModFix/>
          </a:blip>
          <a:srcRect b="24653" l="17108" r="16785" t="24146"/>
          <a:stretch/>
        </p:blipFill>
        <p:spPr>
          <a:xfrm>
            <a:off x="3865325" y="585100"/>
            <a:ext cx="1032800" cy="79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 txBox="1"/>
          <p:nvPr/>
        </p:nvSpPr>
        <p:spPr>
          <a:xfrm>
            <a:off x="204825" y="574738"/>
            <a:ext cx="8558700" cy="40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300">
                <a:latin typeface="Nunito"/>
                <a:ea typeface="Nunito"/>
                <a:cs typeface="Nunito"/>
                <a:sym typeface="Nunito"/>
              </a:rPr>
              <a:t>Visualización de sucursales</a:t>
            </a:r>
            <a:endParaRPr b="1" sz="33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Una vez autenticado, se accederá a un mapa donde podrá visualizar las sucursales disponibles.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Estarán identificadas por un ID único, lo que facilita agrupación y búsqueda.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19"/>
          <p:cNvPicPr preferRelativeResize="0"/>
          <p:nvPr/>
        </p:nvPicPr>
        <p:blipFill rotWithShape="1">
          <a:blip r:embed="rId3">
            <a:alphaModFix/>
          </a:blip>
          <a:srcRect b="10114" l="7676" r="6752" t="10810"/>
          <a:stretch/>
        </p:blipFill>
        <p:spPr>
          <a:xfrm>
            <a:off x="6305700" y="486963"/>
            <a:ext cx="965574" cy="89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0" title="zonas.jpg"/>
          <p:cNvPicPr preferRelativeResize="0"/>
          <p:nvPr/>
        </p:nvPicPr>
        <p:blipFill rotWithShape="1">
          <a:blip r:embed="rId3">
            <a:alphaModFix/>
          </a:blip>
          <a:srcRect b="0" l="0" r="0" t="12808"/>
          <a:stretch/>
        </p:blipFill>
        <p:spPr>
          <a:xfrm>
            <a:off x="387688" y="360575"/>
            <a:ext cx="4564675" cy="442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5215713" y="790050"/>
            <a:ext cx="3540600" cy="34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200">
                <a:latin typeface="Nunito"/>
                <a:ea typeface="Nunito"/>
                <a:cs typeface="Nunito"/>
                <a:sym typeface="Nunito"/>
              </a:rPr>
              <a:t>Zonas por ID</a:t>
            </a:r>
            <a:endParaRPr b="1"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Font typeface="Nunito"/>
              <a:buAutoNum type="arabicPeriod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Zona Norte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Font typeface="Nunito"/>
              <a:buAutoNum type="arabicPeriod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Zona Sur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Font typeface="Nunito"/>
              <a:buAutoNum type="arabicPeriod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Zona Oeste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Font typeface="Nunito"/>
              <a:buAutoNum type="arabicPeriod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Capital Federal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/>
          <p:nvPr/>
        </p:nvSpPr>
        <p:spPr>
          <a:xfrm>
            <a:off x="204825" y="530850"/>
            <a:ext cx="8558700" cy="40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300">
                <a:latin typeface="Nunito"/>
                <a:ea typeface="Nunito"/>
                <a:cs typeface="Nunito"/>
                <a:sym typeface="Nunito"/>
              </a:rPr>
              <a:t>Selección del vehículo</a:t>
            </a:r>
            <a:endParaRPr b="1" sz="33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El usuario explora los autos disponibles en la sucursal elegida, con detalles: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914400" rtl="0" algn="l">
              <a:spcBef>
                <a:spcPts val="0"/>
              </a:spcBef>
              <a:spcAft>
                <a:spcPts val="0"/>
              </a:spcAft>
              <a:buSzPts val="3200"/>
              <a:buFont typeface="Nunito"/>
              <a:buChar char="➔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Modelo y año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914400" rtl="0" algn="l">
              <a:spcBef>
                <a:spcPts val="0"/>
              </a:spcBef>
              <a:spcAft>
                <a:spcPts val="0"/>
              </a:spcAft>
              <a:buSzPts val="3200"/>
              <a:buFont typeface="Nunito"/>
              <a:buChar char="➔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Precio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914400" rtl="0" algn="l">
              <a:spcBef>
                <a:spcPts val="0"/>
              </a:spcBef>
              <a:spcAft>
                <a:spcPts val="0"/>
              </a:spcAft>
              <a:buSzPts val="3200"/>
              <a:buFont typeface="Nunito"/>
              <a:buChar char="➔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Características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3575" y="311351"/>
            <a:ext cx="1189176" cy="1189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/>
          <p:nvPr/>
        </p:nvSpPr>
        <p:spPr>
          <a:xfrm>
            <a:off x="492125" y="440725"/>
            <a:ext cx="4725600" cy="3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200">
                <a:latin typeface="Nunito"/>
                <a:ea typeface="Nunito"/>
                <a:cs typeface="Nunito"/>
                <a:sym typeface="Nunito"/>
              </a:rPr>
              <a:t>Autos por ID categoría</a:t>
            </a:r>
            <a:endParaRPr b="1"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Font typeface="Nunito"/>
              <a:buAutoNum type="arabicPeriod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Sedan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Font typeface="Nunito"/>
              <a:buAutoNum type="arabicPeriod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SUV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Font typeface="Nunito"/>
              <a:buAutoNum type="arabicPeriod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Hatchback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Font typeface="Nunito"/>
              <a:buAutoNum type="arabicPeriod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Pickup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Font typeface="Nunito"/>
              <a:buAutoNum type="arabicPeriod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Deportivo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Font typeface="Nunito"/>
              <a:buAutoNum type="arabicPeriod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Coupé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Font typeface="Nunito"/>
              <a:buAutoNum type="arabicPeriod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Minivan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86" name="Google Shape;18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338" y="1139450"/>
            <a:ext cx="1772925" cy="112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8525" y="1139444"/>
            <a:ext cx="1772925" cy="997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85538" y="2693674"/>
            <a:ext cx="1772923" cy="1181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27699" y="2693665"/>
            <a:ext cx="1994574" cy="1265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06900" y="1918584"/>
            <a:ext cx="1994576" cy="1121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17725" y="585675"/>
            <a:ext cx="1772926" cy="997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86624" y="3376175"/>
            <a:ext cx="1635123" cy="118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" name="Google Shape;197;p23"/>
          <p:cNvGraphicFramePr/>
          <p:nvPr/>
        </p:nvGraphicFramePr>
        <p:xfrm>
          <a:off x="316188" y="353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{B678CE7C-FCB0-46F6-869E-EB29BBB0BA7E}</a:tableStyleId>
              </a:tblPr>
              <a:tblGrid>
                <a:gridCol w="1479375"/>
                <a:gridCol w="1535775"/>
                <a:gridCol w="1535775"/>
                <a:gridCol w="859775"/>
                <a:gridCol w="3086800"/>
              </a:tblGrid>
              <a:tr h="446350"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AUTOS DISPONIBLES</a:t>
                      </a:r>
                      <a:endParaRPr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>
                    <a:solidFill>
                      <a:srgbClr val="B6D7A8"/>
                    </a:solidFill>
                  </a:tcPr>
                </a:tc>
                <a:tc hMerge="1"/>
                <a:tc hMerge="1"/>
                <a:tc hMerge="1"/>
                <a:tc hMerge="1"/>
              </a:tr>
              <a:tr h="44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CATEGORÍA</a:t>
                      </a:r>
                      <a:endParaRPr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MARCA</a:t>
                      </a:r>
                      <a:endParaRPr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MODELO</a:t>
                      </a:r>
                      <a:endParaRPr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AÑO</a:t>
                      </a:r>
                      <a:endParaRPr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COLORES</a:t>
                      </a:r>
                      <a:endParaRPr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>
                    <a:solidFill>
                      <a:srgbClr val="D9EAD3"/>
                    </a:solidFill>
                  </a:tcPr>
                </a:tc>
              </a:tr>
              <a:tr h="485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Sedán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Honda 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City 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2022 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rojo, negro, gris, blanco y azul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/>
                </a:tc>
              </a:tr>
              <a:tr h="485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SUV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Renault 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Captur 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2020 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naranja, blanco, gris, azul y rojo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/>
                </a:tc>
              </a:tr>
              <a:tr h="485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Hatchback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Toyota 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Corolla 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2024 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gris, azul, blanco, negro y verde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/>
                </a:tc>
              </a:tr>
              <a:tr h="485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Pickup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Chevrolet 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s10 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2021 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blanco, negro, gris, azul y rojo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/>
                </a:tc>
              </a:tr>
              <a:tr h="485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Coupé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Mercedes Benz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Cle 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2024 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negro, azul, rojo, blanco y gris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/>
                </a:tc>
              </a:tr>
              <a:tr h="644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Van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Citroen 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Spacetourer 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2024 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marrón, perla, negro, blanco y verde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/>
                </a:tc>
              </a:tr>
              <a:tr h="485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Deportivo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Chevrolet 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Camaro 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2018 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Nunito"/>
                          <a:ea typeface="Nunito"/>
                          <a:cs typeface="Nunito"/>
                          <a:sym typeface="Nunito"/>
                        </a:rPr>
                        <a:t>blanco, amarillo, negro, rojo y azul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63500" marB="63500" marR="63500" marL="635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/>
          <p:nvPr/>
        </p:nvSpPr>
        <p:spPr>
          <a:xfrm>
            <a:off x="204825" y="530850"/>
            <a:ext cx="8558700" cy="40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300">
                <a:latin typeface="Nunito"/>
                <a:ea typeface="Nunito"/>
                <a:cs typeface="Nunito"/>
                <a:sym typeface="Nunito"/>
              </a:rPr>
              <a:t>Reserva </a:t>
            </a:r>
            <a:endParaRPr b="1" sz="33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Una vez elegido el vehículo, el usuario confirma fecha y duración del alquiler.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La reserva es dinámica, actualizada en tiempo real según disponibilidad en zona seleccionada.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24" title="reserv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3275" y="267475"/>
            <a:ext cx="1255250" cy="125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/>
        </p:nvSpPr>
        <p:spPr>
          <a:xfrm>
            <a:off x="204825" y="530850"/>
            <a:ext cx="8558700" cy="40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300">
                <a:latin typeface="Nunito"/>
                <a:ea typeface="Nunito"/>
                <a:cs typeface="Nunito"/>
                <a:sym typeface="Nunito"/>
              </a:rPr>
              <a:t>Pago</a:t>
            </a:r>
            <a:endParaRPr b="1" sz="33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El sistema genera un Link de Pago.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Asegurando comodidad y flexibilidad. 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Una vez confirmado el pago, la reserva queda validada y notifica al usuario el retiro del vehículo. 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25" title="pago.jpg"/>
          <p:cNvPicPr preferRelativeResize="0"/>
          <p:nvPr/>
        </p:nvPicPr>
        <p:blipFill rotWithShape="1">
          <a:blip r:embed="rId3">
            <a:alphaModFix/>
          </a:blip>
          <a:srcRect b="7800" l="0" r="0" t="0"/>
          <a:stretch/>
        </p:blipFill>
        <p:spPr>
          <a:xfrm>
            <a:off x="1823000" y="165025"/>
            <a:ext cx="1439575" cy="132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/>
          <p:nvPr/>
        </p:nvSpPr>
        <p:spPr>
          <a:xfrm>
            <a:off x="204825" y="530850"/>
            <a:ext cx="8558700" cy="40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300">
                <a:latin typeface="Nunito"/>
                <a:ea typeface="Nunito"/>
                <a:cs typeface="Nunito"/>
                <a:sym typeface="Nunito"/>
              </a:rPr>
              <a:t>Notificaciones en tiempo real</a:t>
            </a:r>
            <a:endParaRPr b="1" sz="33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914400" rtl="0" algn="l">
              <a:spcBef>
                <a:spcPts val="0"/>
              </a:spcBef>
              <a:spcAft>
                <a:spcPts val="0"/>
              </a:spcAft>
              <a:buSzPts val="3200"/>
              <a:buFont typeface="Nunito"/>
              <a:buChar char="➔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Confirmación de pago por email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914400" rtl="0" algn="l">
              <a:spcBef>
                <a:spcPts val="0"/>
              </a:spcBef>
              <a:spcAft>
                <a:spcPts val="0"/>
              </a:spcAft>
              <a:buSzPts val="3200"/>
              <a:buFont typeface="Nunito"/>
              <a:buChar char="➔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Recordatorio de reserva creada, pero aún no pagada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914400" rtl="0" algn="l">
              <a:spcBef>
                <a:spcPts val="0"/>
              </a:spcBef>
              <a:spcAft>
                <a:spcPts val="0"/>
              </a:spcAft>
              <a:buSzPts val="3200"/>
              <a:buFont typeface="Nunito"/>
              <a:buChar char="➔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Alerta finalización de tiempo de reserva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914400" rtl="0" algn="l">
              <a:spcBef>
                <a:spcPts val="0"/>
              </a:spcBef>
              <a:spcAft>
                <a:spcPts val="0"/>
              </a:spcAft>
              <a:buSzPts val="3200"/>
              <a:buFont typeface="Nunito"/>
              <a:buChar char="➔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Aviso de penalización por tiempo extra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26" title="alert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8125" y="311375"/>
            <a:ext cx="1086724" cy="1086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/>
        </p:nvSpPr>
        <p:spPr>
          <a:xfrm>
            <a:off x="102375" y="510900"/>
            <a:ext cx="8558700" cy="44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300">
                <a:latin typeface="Nunito"/>
                <a:ea typeface="Nunito"/>
                <a:cs typeface="Nunito"/>
                <a:sym typeface="Nunito"/>
              </a:rPr>
              <a:t>Documentación</a:t>
            </a:r>
            <a:endParaRPr b="1" sz="33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Al</a:t>
            </a: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 confirmar el pago</a:t>
            </a: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, el usuario accede a los documentos del vehículo, incluyendo: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914400" rtl="0" algn="l">
              <a:spcBef>
                <a:spcPts val="0"/>
              </a:spcBef>
              <a:spcAft>
                <a:spcPts val="0"/>
              </a:spcAft>
              <a:buSzPts val="3200"/>
              <a:buFont typeface="Nunito"/>
              <a:buChar char="➔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Seguro vigente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914400" rtl="0" algn="l">
              <a:spcBef>
                <a:spcPts val="0"/>
              </a:spcBef>
              <a:spcAft>
                <a:spcPts val="0"/>
              </a:spcAft>
              <a:buSzPts val="3200"/>
              <a:buFont typeface="Nunito"/>
              <a:buChar char="➔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Cédula verde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914400" rtl="0" algn="l">
              <a:spcBef>
                <a:spcPts val="0"/>
              </a:spcBef>
              <a:spcAft>
                <a:spcPts val="0"/>
              </a:spcAft>
              <a:buSzPts val="3200"/>
              <a:buFont typeface="Nunito"/>
              <a:buChar char="➔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Verificación técnica VTV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Disponible desde la app en caso de control.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27" title="documentos.jpg"/>
          <p:cNvPicPr preferRelativeResize="0"/>
          <p:nvPr/>
        </p:nvPicPr>
        <p:blipFill rotWithShape="1">
          <a:blip r:embed="rId3">
            <a:alphaModFix/>
          </a:blip>
          <a:srcRect b="17507" l="23205" r="22156" t="17069"/>
          <a:stretch/>
        </p:blipFill>
        <p:spPr>
          <a:xfrm>
            <a:off x="3923037" y="393850"/>
            <a:ext cx="917371" cy="1098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8"/>
          <p:cNvPicPr preferRelativeResize="0"/>
          <p:nvPr/>
        </p:nvPicPr>
        <p:blipFill rotWithShape="1">
          <a:blip r:embed="rId3">
            <a:alphaModFix/>
          </a:blip>
          <a:srcRect b="23177" l="0" r="0" t="0"/>
          <a:stretch/>
        </p:blipFill>
        <p:spPr>
          <a:xfrm>
            <a:off x="3330625" y="242788"/>
            <a:ext cx="5451425" cy="4657926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8"/>
          <p:cNvSpPr txBox="1"/>
          <p:nvPr/>
        </p:nvSpPr>
        <p:spPr>
          <a:xfrm>
            <a:off x="351450" y="899400"/>
            <a:ext cx="3035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000">
                <a:latin typeface="Nunito"/>
                <a:ea typeface="Nunito"/>
                <a:cs typeface="Nunito"/>
                <a:sym typeface="Nunito"/>
              </a:rPr>
              <a:t>Seguro vigente</a:t>
            </a:r>
            <a:endParaRPr b="1"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3575" y="262638"/>
            <a:ext cx="5775900" cy="4618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9"/>
          <p:cNvSpPr txBox="1"/>
          <p:nvPr/>
        </p:nvSpPr>
        <p:spPr>
          <a:xfrm>
            <a:off x="393600" y="857225"/>
            <a:ext cx="3035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000">
                <a:latin typeface="Nunito"/>
                <a:ea typeface="Nunito"/>
                <a:cs typeface="Nunito"/>
                <a:sym typeface="Nunito"/>
              </a:rPr>
              <a:t>VTV </a:t>
            </a:r>
            <a:r>
              <a:rPr b="1" lang="es-419" sz="3000">
                <a:latin typeface="Nunito"/>
                <a:ea typeface="Nunito"/>
                <a:cs typeface="Nunito"/>
                <a:sym typeface="Nunito"/>
              </a:rPr>
              <a:t>vigente</a:t>
            </a:r>
            <a:endParaRPr b="1" sz="1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5125" y="335100"/>
            <a:ext cx="4721250" cy="265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000" y="2313950"/>
            <a:ext cx="4200150" cy="245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0"/>
          <p:cNvSpPr txBox="1"/>
          <p:nvPr/>
        </p:nvSpPr>
        <p:spPr>
          <a:xfrm>
            <a:off x="393600" y="815025"/>
            <a:ext cx="3035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000">
                <a:latin typeface="Nunito"/>
                <a:ea typeface="Nunito"/>
                <a:cs typeface="Nunito"/>
                <a:sym typeface="Nunito"/>
              </a:rPr>
              <a:t>Cédula verde</a:t>
            </a:r>
            <a:endParaRPr b="1" sz="1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/>
          <p:nvPr/>
        </p:nvSpPr>
        <p:spPr>
          <a:xfrm>
            <a:off x="204825" y="530850"/>
            <a:ext cx="8558700" cy="40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300">
                <a:latin typeface="Nunito"/>
                <a:ea typeface="Nunito"/>
                <a:cs typeface="Nunito"/>
                <a:sym typeface="Nunito"/>
              </a:rPr>
              <a:t>Retiro y Manejo</a:t>
            </a:r>
            <a:endParaRPr b="1" sz="33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Con</a:t>
            </a: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 la reserva confirmada</a:t>
            </a: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, el usuario se presenta en la sucursal asignada.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Desde su celular, puede desbloquear el vehículo con tecnología NFC.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31" title="retiro.jpg"/>
          <p:cNvPicPr preferRelativeResize="0"/>
          <p:nvPr/>
        </p:nvPicPr>
        <p:blipFill rotWithShape="1">
          <a:blip r:embed="rId3">
            <a:alphaModFix/>
          </a:blip>
          <a:srcRect b="8446" l="19857" r="18702" t="7844"/>
          <a:stretch/>
        </p:blipFill>
        <p:spPr>
          <a:xfrm>
            <a:off x="4037950" y="320250"/>
            <a:ext cx="892425" cy="121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2"/>
          <p:cNvSpPr txBox="1"/>
          <p:nvPr/>
        </p:nvSpPr>
        <p:spPr>
          <a:xfrm>
            <a:off x="204825" y="530850"/>
            <a:ext cx="8558700" cy="40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300">
                <a:latin typeface="Nunito"/>
                <a:ea typeface="Nunito"/>
                <a:cs typeface="Nunito"/>
                <a:sym typeface="Nunito"/>
              </a:rPr>
              <a:t>Validación de acceso con NFC</a:t>
            </a:r>
            <a:endParaRPr b="1" sz="33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914400" rtl="0" algn="l">
              <a:spcBef>
                <a:spcPts val="0"/>
              </a:spcBef>
              <a:spcAft>
                <a:spcPts val="0"/>
              </a:spcAft>
              <a:buSzPts val="3200"/>
              <a:buFont typeface="Nunito"/>
              <a:buChar char="➔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El usuario abre app y selecciona “Validar acceso”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914400" rtl="0" algn="l">
              <a:spcBef>
                <a:spcPts val="0"/>
              </a:spcBef>
              <a:spcAft>
                <a:spcPts val="0"/>
              </a:spcAft>
              <a:buSzPts val="3200"/>
              <a:buFont typeface="Nunito"/>
              <a:buChar char="➔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Acerca el teléfono al lector del vehículo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914400" rtl="0" algn="l">
              <a:spcBef>
                <a:spcPts val="0"/>
              </a:spcBef>
              <a:spcAft>
                <a:spcPts val="0"/>
              </a:spcAft>
              <a:buSzPts val="3200"/>
              <a:buFont typeface="Nunito"/>
              <a:buChar char="➔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La app detecta y compara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-431800" lvl="0" marL="914400" rtl="0" algn="l">
              <a:spcBef>
                <a:spcPts val="0"/>
              </a:spcBef>
              <a:spcAft>
                <a:spcPts val="0"/>
              </a:spcAft>
              <a:buSzPts val="3200"/>
              <a:buFont typeface="Nunito"/>
              <a:buChar char="➔"/>
            </a:pPr>
            <a:r>
              <a:rPr lang="es-419" sz="3200">
                <a:latin typeface="Nunito"/>
                <a:ea typeface="Nunito"/>
                <a:cs typeface="Nunito"/>
                <a:sym typeface="Nunito"/>
              </a:rPr>
              <a:t>Si es válido, autoriza el acceso</a:t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200">
                <a:latin typeface="Nunito"/>
                <a:ea typeface="Nunito"/>
                <a:cs typeface="Nunito"/>
                <a:sym typeface="Nunito"/>
              </a:rPr>
              <a:t>  ¡Bienvenido! Que tengas un excelente viaje. </a:t>
            </a:r>
            <a:endParaRPr b="1"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32" title="nfc.jpg"/>
          <p:cNvPicPr preferRelativeResize="0"/>
          <p:nvPr/>
        </p:nvPicPr>
        <p:blipFill rotWithShape="1">
          <a:blip r:embed="rId3">
            <a:alphaModFix/>
          </a:blip>
          <a:srcRect b="17942" l="10991" r="11502" t="17005"/>
          <a:stretch/>
        </p:blipFill>
        <p:spPr>
          <a:xfrm>
            <a:off x="6745600" y="362200"/>
            <a:ext cx="1393439" cy="116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 txBox="1"/>
          <p:nvPr>
            <p:ph idx="4294967295" type="ctrTitle"/>
          </p:nvPr>
        </p:nvSpPr>
        <p:spPr>
          <a:xfrm>
            <a:off x="0" y="885525"/>
            <a:ext cx="9144000" cy="10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62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Reservá, desbloqueá y manejá en minutos!</a:t>
            </a:r>
            <a:endParaRPr sz="362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8" name="Google Shape;258;p33"/>
          <p:cNvSpPr txBox="1"/>
          <p:nvPr>
            <p:ph idx="4294967295" type="subTitle"/>
          </p:nvPr>
        </p:nvSpPr>
        <p:spPr>
          <a:xfrm>
            <a:off x="1521600" y="3200875"/>
            <a:ext cx="6100800" cy="150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b="1" lang="es-419" sz="2284">
                <a:latin typeface="Nunito"/>
                <a:ea typeface="Nunito"/>
                <a:cs typeface="Nunito"/>
                <a:sym typeface="Nunito"/>
              </a:rPr>
              <a:t>SIN FILAS, SIN PAPELEO Y SIN DEMORAS!</a:t>
            </a:r>
            <a:br>
              <a:rPr lang="es-419" sz="94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157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59" name="Google Shape;259;p33" title="rut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2150" y="1787800"/>
            <a:ext cx="1699700" cy="16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3"/>
          <p:cNvSpPr txBox="1"/>
          <p:nvPr>
            <p:ph idx="4294967295" type="ctrTitle"/>
          </p:nvPr>
        </p:nvSpPr>
        <p:spPr>
          <a:xfrm>
            <a:off x="3868450" y="1967000"/>
            <a:ext cx="3145500" cy="10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02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RENTIFY </a:t>
            </a:r>
            <a:endParaRPr sz="302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